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6c3d93a65284417" /><Relationship Type="http://schemas.openxmlformats.org/officeDocument/2006/relationships/extended-properties" Target="/docProps/app.xml" Id="Rcffe1da8c51f4977" /><Relationship Type="http://schemas.openxmlformats.org/officeDocument/2006/relationships/officeDocument" Target="/ppt/presentation.xml" Id="Rb7b7853144864d4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d4276c7656d4e23"/>
  </p:sldMasterIdLst>
  <p:notesMasterIdLst>
    <p:notesMasterId xmlns:r="http://schemas.openxmlformats.org/officeDocument/2006/relationships" r:id="Ree11c8d9945c48d4"/>
  </p:notesMasterIdLst>
  <p:sldIdLst>
    <p:sldId xmlns:r="http://schemas.openxmlformats.org/officeDocument/2006/relationships" id="256" r:id="Rddd85ce17ebf4a9d"/>
    <p:sldId xmlns:r="http://schemas.openxmlformats.org/officeDocument/2006/relationships" id="257" r:id="Rc2adb7e701e848aa"/>
    <p:sldId xmlns:r="http://schemas.openxmlformats.org/officeDocument/2006/relationships" id="258" r:id="R079a61a566274a57"/>
    <p:sldId xmlns:r="http://schemas.openxmlformats.org/officeDocument/2006/relationships" id="259" r:id="R32cd2234a2314289"/>
    <p:sldId xmlns:r="http://schemas.openxmlformats.org/officeDocument/2006/relationships" id="260" r:id="Rba49a555f0f244dc"/>
    <p:sldId xmlns:r="http://schemas.openxmlformats.org/officeDocument/2006/relationships" id="261" r:id="Raf9f2ca7df654c72"/>
    <p:sldId xmlns:r="http://schemas.openxmlformats.org/officeDocument/2006/relationships" id="262" r:id="Rabe2f7d3b51d4777"/>
    <p:sldId xmlns:r="http://schemas.openxmlformats.org/officeDocument/2006/relationships" id="263" r:id="Rce3692d8b1934b5f"/>
    <p:sldId xmlns:r="http://schemas.openxmlformats.org/officeDocument/2006/relationships" id="264" r:id="R3ed42006f8db4b78"/>
    <p:sldId xmlns:r="http://schemas.openxmlformats.org/officeDocument/2006/relationships" id="265" r:id="Rdf07042fa1bc4344"/>
    <p:sldId xmlns:r="http://schemas.openxmlformats.org/officeDocument/2006/relationships" id="266" r:id="R8a5b32e3d45246d6"/>
    <p:sldId xmlns:r="http://schemas.openxmlformats.org/officeDocument/2006/relationships" id="267" r:id="Rcc6330dec4c646e7"/>
    <p:sldId xmlns:r="http://schemas.openxmlformats.org/officeDocument/2006/relationships" id="268" r:id="R8b587aaefe6f4dd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bbdd44f0c274a3a" /><Relationship Type="http://schemas.openxmlformats.org/officeDocument/2006/relationships/slideMaster" Target="/ppt/slideMasters/slideMaster1.xml" Id="R4d4276c7656d4e23" /><Relationship Type="http://schemas.openxmlformats.org/officeDocument/2006/relationships/notesMaster" Target="/ppt/notesMasters/notesMaster1.xml" Id="Ree11c8d9945c48d4" /><Relationship Type="http://schemas.openxmlformats.org/officeDocument/2006/relationships/presProps" Target="/ppt/presProps.xml" Id="R4dae17f32be24eed" /><Relationship Type="http://schemas.openxmlformats.org/officeDocument/2006/relationships/tableStyles" Target="/ppt/tableStyles.xml" Id="Rc55313f546694a45" /><Relationship Type="http://schemas.openxmlformats.org/officeDocument/2006/relationships/slide" Target="/ppt/slides/slide1.xml" Id="Rddd85ce17ebf4a9d" /><Relationship Type="http://schemas.openxmlformats.org/officeDocument/2006/relationships/slide" Target="/ppt/slides/slide2.xml" Id="Rc2adb7e701e848aa" /><Relationship Type="http://schemas.openxmlformats.org/officeDocument/2006/relationships/slide" Target="/ppt/slides/slide3.xml" Id="R079a61a566274a57" /><Relationship Type="http://schemas.openxmlformats.org/officeDocument/2006/relationships/slide" Target="/ppt/slides/slide4.xml" Id="R32cd2234a2314289" /><Relationship Type="http://schemas.openxmlformats.org/officeDocument/2006/relationships/slide" Target="/ppt/slides/slide5.xml" Id="Rba49a555f0f244dc" /><Relationship Type="http://schemas.openxmlformats.org/officeDocument/2006/relationships/slide" Target="/ppt/slides/slide6.xml" Id="Raf9f2ca7df654c72" /><Relationship Type="http://schemas.openxmlformats.org/officeDocument/2006/relationships/slide" Target="/ppt/slides/slide7.xml" Id="Rabe2f7d3b51d4777" /><Relationship Type="http://schemas.openxmlformats.org/officeDocument/2006/relationships/slide" Target="/ppt/slides/slide8.xml" Id="Rce3692d8b1934b5f" /><Relationship Type="http://schemas.openxmlformats.org/officeDocument/2006/relationships/slide" Target="/ppt/slides/slide9.xml" Id="R3ed42006f8db4b78" /><Relationship Type="http://schemas.openxmlformats.org/officeDocument/2006/relationships/slide" Target="/ppt/slides/slide10.xml" Id="Rdf07042fa1bc4344" /><Relationship Type="http://schemas.openxmlformats.org/officeDocument/2006/relationships/slide" Target="/ppt/slides/slide11.xml" Id="R8a5b32e3d45246d6" /><Relationship Type="http://schemas.openxmlformats.org/officeDocument/2006/relationships/slide" Target="/ppt/slides/slide12.xml" Id="Rcc6330dec4c646e7" /><Relationship Type="http://schemas.openxmlformats.org/officeDocument/2006/relationships/slide" Target="/ppt/slides/slide13.xml" Id="R8b587aaefe6f4dd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2c0c0f4de3e479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53a7a7ba8984fe4" /><Relationship Type="http://schemas.openxmlformats.org/officeDocument/2006/relationships/notesMaster" Target="/ppt/notesMasters/notesMaster1.xml" Id="Rb7215f562a8046e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afd8f1f25f74b6b" /><Relationship Type="http://schemas.openxmlformats.org/officeDocument/2006/relationships/notesMaster" Target="/ppt/notesMasters/notesMaster1.xml" Id="R1c99ab07036b421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92e5bf4d09c43b9" /><Relationship Type="http://schemas.openxmlformats.org/officeDocument/2006/relationships/notesMaster" Target="/ppt/notesMasters/notesMaster1.xml" Id="R146488490b4747d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08572cf777240bd" /><Relationship Type="http://schemas.openxmlformats.org/officeDocument/2006/relationships/notesMaster" Target="/ppt/notesMasters/notesMaster1.xml" Id="Rd03c6a79ed174e2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b0462d0a4e643cc" /><Relationship Type="http://schemas.openxmlformats.org/officeDocument/2006/relationships/notesMaster" Target="/ppt/notesMasters/notesMaster1.xml" Id="Rc1c387670ee44b5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0905d661f024598" /><Relationship Type="http://schemas.openxmlformats.org/officeDocument/2006/relationships/notesMaster" Target="/ppt/notesMasters/notesMaster1.xml" Id="R44e4fe7ff235497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3b2b8a75c7f467f" /><Relationship Type="http://schemas.openxmlformats.org/officeDocument/2006/relationships/notesMaster" Target="/ppt/notesMasters/notesMaster1.xml" Id="R88c89eb4d01f45d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a20f0ce4fc94acf" /><Relationship Type="http://schemas.openxmlformats.org/officeDocument/2006/relationships/notesMaster" Target="/ppt/notesMasters/notesMaster1.xml" Id="Rdaa5aacc5783445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28712bc037248a5" /><Relationship Type="http://schemas.openxmlformats.org/officeDocument/2006/relationships/notesMaster" Target="/ppt/notesMasters/notesMaster1.xml" Id="Rfe51021700c347d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2ca3b3206fb4fe7" /><Relationship Type="http://schemas.openxmlformats.org/officeDocument/2006/relationships/notesMaster" Target="/ppt/notesMasters/notesMaster1.xml" Id="R82e086a19d42426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f0ea63db6d04650" /><Relationship Type="http://schemas.openxmlformats.org/officeDocument/2006/relationships/notesMaster" Target="/ppt/notesMasters/notesMaster1.xml" Id="R075e679ea0a64d0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122696e210d432d" /><Relationship Type="http://schemas.openxmlformats.org/officeDocument/2006/relationships/notesMaster" Target="/ppt/notesMasters/notesMaster1.xml" Id="R8d3b5f7dcbdd453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eeccd3462074c28" /><Relationship Type="http://schemas.openxmlformats.org/officeDocument/2006/relationships/notesMaster" Target="/ppt/notesMasters/notesMaster1.xml" Id="Rc02ecad5d31942e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57f1bf3e6f4d8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1a77b7b54e54889" /><Relationship Type="http://schemas.openxmlformats.org/officeDocument/2006/relationships/slideLayout" Target="/ppt/slideLayouts/slideLayout1.xml" Id="R18f55082aa8b449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8f55082aa8b449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c3969abafc4a27" /><Relationship Type="http://schemas.openxmlformats.org/officeDocument/2006/relationships/notesSlide" Target="/ppt/notesSlides/notesSlide1.xml" Id="Rd9490921b300401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2d96b141c94481" /><Relationship Type="http://schemas.openxmlformats.org/officeDocument/2006/relationships/notesSlide" Target="/ppt/notesSlides/notesSlide2.xml" Id="R049cca5c97b24f0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24a4f7f8c84ce3" /><Relationship Type="http://schemas.openxmlformats.org/officeDocument/2006/relationships/image" Target="/ppt/media/image.jpeg" Id="R37f84f77511f440c" /><Relationship Type="http://schemas.openxmlformats.org/officeDocument/2006/relationships/notesSlide" Target="/ppt/notesSlides/notesSlide3.xml" Id="R45b483a0a8404f0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c8fa6dd8c94be1" /><Relationship Type="http://schemas.openxmlformats.org/officeDocument/2006/relationships/notesSlide" Target="/ppt/notesSlides/notesSlide4.xml" Id="R4b0c0bc6372041d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1c3b88a3ab42f2" /><Relationship Type="http://schemas.openxmlformats.org/officeDocument/2006/relationships/notesSlide" Target="/ppt/notesSlides/notesSlide5.xml" Id="Re3291770585a400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30085c422d449c" /><Relationship Type="http://schemas.openxmlformats.org/officeDocument/2006/relationships/image" Target="/ppt/media/image2.jpeg" Id="R685784f5ac6d4a55" /><Relationship Type="http://schemas.openxmlformats.org/officeDocument/2006/relationships/notesSlide" Target="/ppt/notesSlides/notesSlide6.xml" Id="R0aeb2a7acdfd43c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824a43524144f7" /><Relationship Type="http://schemas.openxmlformats.org/officeDocument/2006/relationships/notesSlide" Target="/ppt/notesSlides/notesSlide7.xml" Id="R7be40b6ca42d487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e6994c8e734b56" /><Relationship Type="http://schemas.openxmlformats.org/officeDocument/2006/relationships/notesSlide" Target="/ppt/notesSlides/notesSlide8.xml" Id="R15166d6d09ed4ca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67bfefd60a4a89" /><Relationship Type="http://schemas.openxmlformats.org/officeDocument/2006/relationships/notesSlide" Target="/ppt/notesSlides/notesSlide9.xml" Id="R9af8697c191e430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1823d4f5f84e06" /><Relationship Type="http://schemas.openxmlformats.org/officeDocument/2006/relationships/notesSlide" Target="/ppt/notesSlides/notesSlide10.xml" Id="R76d62efd4f134a4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e679d49ce74136" /><Relationship Type="http://schemas.openxmlformats.org/officeDocument/2006/relationships/notesSlide" Target="/ppt/notesSlides/notesSlide11.xml" Id="R04ba5956926a427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28edd867294014" /><Relationship Type="http://schemas.openxmlformats.org/officeDocument/2006/relationships/notesSlide" Target="/ppt/notesSlides/notesSlide12.xml" Id="R61584ec82b7b460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ac6609afdf43b7" /><Relationship Type="http://schemas.openxmlformats.org/officeDocument/2006/relationships/notesSlide" Target="/ppt/notesSlides/notesSlide13.xml" Id="R92556945657746c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A01714-0E5F-4A6C-BA57-A4A3DFC33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"/>
            <a:ext cx="40005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9D55"/>
                </a:solidFill>
                <a:latin typeface="Arial"/>
                <a:ea typeface="Arial"/>
                <a:cs typeface="Arial"/>
              </a:defRPr>
            </a:pPr>
            <a:r>
              <a:t>FVI / PRE-SEED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3DF59F-A03D-493A-A881-71671D02B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14500"/>
            <a:ext cx="10001250" cy="228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700" b="1">
                <a:solidFill>
                  <a:srgbClr val="0B0F0D"/>
                </a:solidFill>
                <a:latin typeface="Arial"/>
                <a:ea typeface="Arial"/>
                <a:cs typeface="Arial"/>
              </a:defRPr>
            </a:pPr>
            <a:r>
              <a:t>The evidence layer for investor track records</a:t>
            </a:r>
          </a:p>
        </p:txBody>
      </p:sp>
      <p:cxnSp>
        <p:nvCxnSpPr>
          <p:cNvPr id="8" name=""/>
          <p:cNvCxnSpPr/>
          <p:nvPr/>
        </p:nvCxnSpPr>
        <p:spPr>
          <a:xfrm xmlns:a="http://schemas.openxmlformats.org/drawingml/2006/main">
            <a:off x="457200" y="4476750"/>
            <a:ext cx="1074420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B0F0D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136C2B-B0BB-4551-88BF-44A87A700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57750"/>
            <a:ext cx="847725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56615C"/>
                </a:solidFill>
                <a:latin typeface="Arial"/>
                <a:ea typeface="Arial"/>
                <a:cs typeface="Arial"/>
              </a:defRPr>
            </a:pPr>
            <a:r>
              <a:t>Inspect complete records. Follow read-only changes. Decide independently.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E45661-70D1-4C5F-938C-A456C2337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43625"/>
            <a:ext cx="4953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6615C"/>
                </a:solidFill>
                <a:latin typeface="Arial"/>
                <a:ea typeface="Arial"/>
                <a:cs typeface="Arial"/>
              </a:defRPr>
            </a:pPr>
            <a:r>
              <a:t>Gaurav Bihani  |  July 2026</a:t>
            </a:r>
          </a:p>
        </p:txBody>
      </p:sp>
    </p:spTree>
    <p:extLst>
      <p:ext uri="{BB962C8B-B14F-4D97-AF65-F5344CB8AC3E}">
        <p14:creationId xmlns:p14="http://schemas.microsoft.com/office/powerpoint/2010/main" val="148422557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itle-2">
            <a:extLst xmlns:a="http://schemas.openxmlformats.org/drawingml/2006/main">
              <a:ext uri="{FF2B5EF4-FFF2-40B4-BE49-F238E27FC236}">
                <a16:creationId xmlns:a16="http://schemas.microsoft.com/office/drawing/2014/main" id="{F1A11A62-B79E-47F4-89D7-F4090B58C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10715625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79582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B0F0D"/>
                </a:solidFill>
                <a:latin typeface="Arial"/>
                <a:ea typeface="Arial"/>
                <a:cs typeface="Arial"/>
              </a:defRPr>
            </a:pPr>
            <a:r>
              <a:t>The market rewards claims; users absorb the missing context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E02743-0BE0-40D4-BFA4-F78B3FF13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47800"/>
            <a:ext cx="4572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64545"/>
                </a:solidFill>
                <a:latin typeface="Arial"/>
                <a:ea typeface="Arial"/>
                <a:cs typeface="Arial"/>
              </a:defRPr>
            </a:pPr>
            <a:r>
              <a:t>WHAT GETS POSTED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CD58FA-046E-46A4-8476-41E0FA1EC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24050"/>
            <a:ext cx="45720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0B0F0D"/>
                </a:solidFill>
                <a:latin typeface="Arial"/>
                <a:ea typeface="Arial"/>
                <a:cs typeface="Arial"/>
              </a:defRPr>
            </a:pPr>
            <a:r>
              <a:t>+38% return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BDECAA-0CCA-4242-B6CE-26F46C425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09900"/>
            <a:ext cx="4476750" cy="1790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6615C"/>
                </a:solidFill>
                <a:latin typeface="Arial"/>
                <a:ea typeface="Arial"/>
                <a:cs typeface="Arial"/>
              </a:defRPr>
            </a:pPr>
            <a:r>
              <a:t>A screenshot
A winning position
A selective date range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67C08D-5E4F-42A3-8559-E90FA7FDA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390650"/>
            <a:ext cx="5657850" cy="428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4"/>
          </a:solidFill>
          <a:ln xmlns:a="http://schemas.openxmlformats.org/drawingml/2006/main" w="9525">
            <a:solidFill>
              <a:srgbClr val="F4F5F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06A84A-7F65-4081-B6B7-37AC3F46F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52600"/>
            <a:ext cx="4762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9D55"/>
                </a:solidFill>
                <a:latin typeface="Arial"/>
                <a:ea typeface="Arial"/>
                <a:cs typeface="Arial"/>
              </a:defRPr>
            </a:pPr>
            <a:r>
              <a:t>WHAT A FOLLOWER NEEDS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3A31D0-FE7C-463A-BD4C-DA486F689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05050"/>
            <a:ext cx="4762500" cy="2419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B0F0D"/>
                </a:solidFill>
                <a:latin typeface="Arial"/>
                <a:ea typeface="Arial"/>
                <a:cs typeface="Arial"/>
              </a:defRPr>
            </a:pPr>
            <a:r>
              <a:t>Dates and exits
Drawdowns and risk
Full allocation history
Evidence source and freshness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D0CAA1-FE1D-4581-A27B-0B7ED785F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010150"/>
            <a:ext cx="47625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6615C"/>
                </a:solidFill>
                <a:latin typeface="Arial"/>
                <a:ea typeface="Arial"/>
                <a:cs typeface="Arial"/>
              </a:defRPr>
            </a:pPr>
            <a:r>
              <a:t>Without the complete record, credibility is a storytelling advantage.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BA16E2-8F5F-4F6E-BB0F-788CBABF5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495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5C"/>
                </a:solidFill>
                <a:latin typeface="Arial"/>
                <a:ea typeface="Arial"/>
                <a:cs typeface="Arial"/>
              </a:defRPr>
            </a:pPr>
            <a: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61601876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-3">
            <a:extLst xmlns:a="http://schemas.openxmlformats.org/drawingml/2006/main">
              <a:ext uri="{FF2B5EF4-FFF2-40B4-BE49-F238E27FC236}">
                <a16:creationId xmlns:a16="http://schemas.microsoft.com/office/drawing/2014/main" id="{7D70473F-2EFC-489D-8C30-DD3A7D08F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10715625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8118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B0F0D"/>
                </a:solidFill>
                <a:latin typeface="Arial"/>
                <a:ea typeface="Arial"/>
                <a:cs typeface="Arial"/>
              </a:defRPr>
            </a:pPr>
            <a:r>
              <a:t>FVI turns portfolio claims into inspectable records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DFFE7E-7D57-4AD7-8805-D3B3D5F31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46672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0F0D"/>
                </a:solidFill>
                <a:latin typeface="Arial"/>
                <a:ea typeface="Arial"/>
                <a:cs typeface="Arial"/>
              </a:defRPr>
            </a:pPr>
            <a:r>
              <a:t>A read-only research surface for Indian retail investors.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4E963F-9EB2-452B-8C64-4AAB03CC9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00300"/>
            <a:ext cx="4762500" cy="2952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6615C"/>
                </a:solidFill>
                <a:latin typeface="Arial"/>
                <a:ea typeface="Arial"/>
                <a:cs typeface="Arial"/>
              </a:defRPr>
            </a:pPr>
            <a:r>
              <a:t>1  Evidence status and review limits
2  Holdings, history, drawdowns and benchmarks
3  Follow alerts when published allocations change
4  No advice, order execution or trading access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1558DD-2D82-4917-9BA6-84E75F9C0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381125"/>
            <a:ext cx="5848350" cy="461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0D"/>
          </a:solidFill>
          <a:ln xmlns:a="http://schemas.openxmlformats.org/drawingml/2006/main" w="9525">
            <a:solidFill>
              <a:srgbClr val="0B0F0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0C42F9-7E25-47B5-AAAB-26EA41963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495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5C"/>
                </a:solidFill>
                <a:latin typeface="Arial"/>
                <a:ea typeface="Arial"/>
                <a:cs typeface="Arial"/>
              </a:defRPr>
            </a:pPr>
            <a:r>
              <a:t>03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f84f77511f440c"/>
          <a:stretch xmlns:a="http://schemas.openxmlformats.org/drawingml/2006/main"/>
        </p:blipFill>
        <p:spPr>
          <a:xfrm xmlns:a="http://schemas.openxmlformats.org/drawingml/2006/main">
            <a:off x="5962650" y="2130855"/>
            <a:ext cx="5543550" cy="312016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42818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title-4">
            <a:extLst xmlns:a="http://schemas.openxmlformats.org/drawingml/2006/main">
              <a:ext uri="{FF2B5EF4-FFF2-40B4-BE49-F238E27FC236}">
                <a16:creationId xmlns:a16="http://schemas.microsoft.com/office/drawing/2014/main" id="{44567888-0146-43E5-9749-30F5612C3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10715625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B0F0D"/>
                </a:solidFill>
                <a:latin typeface="Arial"/>
                <a:ea typeface="Arial"/>
                <a:cs typeface="Arial"/>
              </a:defRPr>
            </a:pPr>
            <a:r>
              <a:t>One narrow loop creates the company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6EA890-6136-43CE-B8BB-BF2C1C1F3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38250"/>
            <a:ext cx="95250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6615C"/>
                </a:solidFill>
                <a:latin typeface="Arial"/>
                <a:ea typeface="Arial"/>
                <a:cs typeface="Arial"/>
              </a:defRPr>
            </a:pPr>
            <a:r>
              <a:t>A creator's evidence becomes useful only when it changes user behavior repeatedly.</a:t>
            </a:r>
          </a:p>
        </p:txBody>
      </p:sp>
      <p:cxnSp>
        <p:nvCxnSpPr>
          <p:cNvPr id="27" name=""/>
          <p:cNvCxnSpPr/>
          <p:nvPr/>
        </p:nvCxnSpPr>
        <p:spPr>
          <a:xfrm xmlns:a="http://schemas.openxmlformats.org/drawingml/2006/main">
            <a:off x="1104900" y="3286125"/>
            <a:ext cx="9867900" cy="95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009D55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9A0778-0D80-4560-9202-945707561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337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D55"/>
          </a:solidFill>
          <a:ln xmlns:a="http://schemas.openxmlformats.org/drawingml/2006/main" w="9525">
            <a:solidFill>
              <a:srgbClr val="009D5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9D46D5-8267-43BA-9D7C-181CA7BB2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1337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D55"/>
          </a:solidFill>
          <a:ln xmlns:a="http://schemas.openxmlformats.org/drawingml/2006/main" w="9525">
            <a:solidFill>
              <a:srgbClr val="009D5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E7256B-4C0B-4E43-9C12-1BA927C80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1337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D55"/>
          </a:solidFill>
          <a:ln xmlns:a="http://schemas.openxmlformats.org/drawingml/2006/main" w="9525">
            <a:solidFill>
              <a:srgbClr val="009D5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A1CE73-9A99-4ECD-9070-5E7057998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1337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D55"/>
          </a:solidFill>
          <a:ln xmlns:a="http://schemas.openxmlformats.org/drawingml/2006/main" w="9525">
            <a:solidFill>
              <a:srgbClr val="009D5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D3F487-E22A-4C76-B9AE-A14E93137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31337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D55"/>
          </a:solidFill>
          <a:ln xmlns:a="http://schemas.openxmlformats.org/drawingml/2006/main" w="9525">
            <a:solidFill>
              <a:srgbClr val="009D5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E6365A-03F7-495A-A0DA-1314F1ACC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71700"/>
            <a:ext cx="857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9D55"/>
                </a:solidFill>
                <a:latin typeface="Arial"/>
                <a:ea typeface="Arial"/>
                <a:cs typeface="Arial"/>
              </a:defRPr>
            </a:pPr>
            <a: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58BF01-69A4-4CFF-8772-752FE103A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38550"/>
            <a:ext cx="152400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0F0D"/>
                </a:solidFill>
                <a:latin typeface="Arial"/>
                <a:ea typeface="Arial"/>
                <a:cs typeface="Arial"/>
              </a:defRPr>
            </a:pPr>
            <a:r>
              <a:t>VERIFY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FE08FF-0461-4FC7-9EF3-26F5A4BA9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95750"/>
            <a:ext cx="15240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6615C"/>
                </a:solidFill>
                <a:latin typeface="Arial"/>
                <a:ea typeface="Arial"/>
                <a:cs typeface="Arial"/>
              </a:defRPr>
            </a:pPr>
            <a:r>
              <a:t>Review evidence
and consent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7096E5-EA4B-4B88-8DEC-39FF1D63F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171700"/>
            <a:ext cx="857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9D55"/>
                </a:solidFill>
                <a:latin typeface="Arial"/>
                <a:ea typeface="Arial"/>
                <a:cs typeface="Arial"/>
              </a:defRPr>
            </a:pPr>
            <a: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CD5B84-2B51-48DF-B4BB-53A18E34F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638550"/>
            <a:ext cx="152400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0F0D"/>
                </a:solidFill>
                <a:latin typeface="Arial"/>
                <a:ea typeface="Arial"/>
                <a:cs typeface="Arial"/>
              </a:defRPr>
            </a:pPr>
            <a:r>
              <a:t>PUBLISH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EF5DC1-9FDE-4D4A-842E-5919AFEF2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095750"/>
            <a:ext cx="15240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6615C"/>
                </a:solidFill>
                <a:latin typeface="Arial"/>
                <a:ea typeface="Arial"/>
                <a:cs typeface="Arial"/>
              </a:defRPr>
            </a:pPr>
            <a:r>
              <a:t>Expose the full
record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2B23DC-B0F0-4116-992C-9384B7B5A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171700"/>
            <a:ext cx="857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9D55"/>
                </a:solidFill>
                <a:latin typeface="Arial"/>
                <a:ea typeface="Arial"/>
                <a:cs typeface="Arial"/>
              </a:defRPr>
            </a:pPr>
            <a: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89D380-C4AF-485A-A42D-D975CBB54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638550"/>
            <a:ext cx="152400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0F0D"/>
                </a:solidFill>
                <a:latin typeface="Arial"/>
                <a:ea typeface="Arial"/>
                <a:cs typeface="Arial"/>
              </a:defRPr>
            </a:pPr>
            <a:r>
              <a:t>FOLLOW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35364D-4739-4710-9456-CC68CF9E6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095750"/>
            <a:ext cx="15240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6615C"/>
                </a:solidFill>
                <a:latin typeface="Arial"/>
                <a:ea typeface="Arial"/>
                <a:cs typeface="Arial"/>
              </a:defRPr>
            </a:pPr>
            <a:r>
              <a:t>User chooses a
creator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A26B8B-723A-4C1F-BAD2-23FDE3460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171700"/>
            <a:ext cx="857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9D55"/>
                </a:solidFill>
                <a:latin typeface="Arial"/>
                <a:ea typeface="Arial"/>
                <a:cs typeface="Arial"/>
              </a:defRPr>
            </a:pPr>
            <a: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6EDA03-B94C-46F9-A23C-32CE2D475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638550"/>
            <a:ext cx="152400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0F0D"/>
                </a:solidFill>
                <a:latin typeface="Arial"/>
                <a:ea typeface="Arial"/>
                <a:cs typeface="Arial"/>
              </a:defRPr>
            </a:pPr>
            <a:r>
              <a:t>ALERT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368E69-CF72-446B-AE89-7358E78A8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095750"/>
            <a:ext cx="15240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6615C"/>
                </a:solidFill>
                <a:latin typeface="Arial"/>
                <a:ea typeface="Arial"/>
                <a:cs typeface="Arial"/>
              </a:defRPr>
            </a:pPr>
            <a:r>
              <a:t>Allocation change,
read-only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7D7118-6C2D-49BA-BCFE-1248A36F3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2171700"/>
            <a:ext cx="857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9D55"/>
                </a:solidFill>
                <a:latin typeface="Arial"/>
                <a:ea typeface="Arial"/>
                <a:cs typeface="Arial"/>
              </a:defRPr>
            </a:pPr>
            <a: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06C346-27C8-48B7-9ED6-6C4009865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3638550"/>
            <a:ext cx="152400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0F0D"/>
                </a:solidFill>
                <a:latin typeface="Arial"/>
                <a:ea typeface="Arial"/>
                <a:cs typeface="Arial"/>
              </a:defRPr>
            </a:pPr>
            <a:r>
              <a:t>RETURN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E00FA4B-741D-41FB-99F5-37BFE8427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4095750"/>
            <a:ext cx="15240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6615C"/>
                </a:solidFill>
                <a:latin typeface="Arial"/>
                <a:ea typeface="Arial"/>
                <a:cs typeface="Arial"/>
              </a:defRPr>
            </a:pPr>
            <a:r>
              <a:t>Evidence creates
retention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64B506F-75EB-4211-B24A-E6D263B2A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495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5C"/>
                </a:solidFill>
                <a:latin typeface="Arial"/>
                <a:ea typeface="Arial"/>
                <a:cs typeface="Arial"/>
              </a:defRPr>
            </a:pPr>
            <a: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98970497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-5">
            <a:extLst xmlns:a="http://schemas.openxmlformats.org/drawingml/2006/main">
              <a:ext uri="{FF2B5EF4-FFF2-40B4-BE49-F238E27FC236}">
                <a16:creationId xmlns:a16="http://schemas.microsoft.com/office/drawing/2014/main" id="{FD4815CD-9248-4A9D-89FE-A3025B99A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10715625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6903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B0F0D"/>
                </a:solidFill>
                <a:latin typeface="Arial"/>
                <a:ea typeface="Arial"/>
                <a:cs typeface="Arial"/>
              </a:defRPr>
            </a:pPr>
            <a:r>
              <a:t>Trust comes from visible limits, not a louder badge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DBE57D-8123-4105-A290-CB4A5434D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81150"/>
            <a:ext cx="4953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9D55"/>
                </a:solidFill>
                <a:latin typeface="Arial"/>
                <a:ea typeface="Arial"/>
                <a:cs typeface="Arial"/>
              </a:defRPr>
            </a:pPr>
            <a:r>
              <a:t>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D73E0E-F1E2-405D-90E2-0174AAE0A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19300"/>
            <a:ext cx="4953000" cy="971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0F0D"/>
                </a:solidFill>
                <a:latin typeface="Arial"/>
                <a:ea typeface="Arial"/>
                <a:cs typeface="Arial"/>
              </a:defRPr>
            </a:pPr>
            <a:r>
              <a:t>CAS reviewed or broker-linked only when the underlying workflow exists.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111734-51FB-4E48-8960-CE9B9C10C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581150"/>
            <a:ext cx="4953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9D55"/>
                </a:solidFill>
                <a:latin typeface="Arial"/>
                <a:ea typeface="Arial"/>
                <a:cs typeface="Arial"/>
              </a:defRPr>
            </a:pPr>
            <a:r>
              <a:t>FRESHNESS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45404B-C67E-4570-BA29-25B69BF62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19300"/>
            <a:ext cx="4953000" cy="971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0F0D"/>
                </a:solidFill>
                <a:latin typeface="Arial"/>
                <a:ea typeface="Arial"/>
                <a:cs typeface="Arial"/>
              </a:defRPr>
            </a:pPr>
            <a:r>
              <a:t>Every record carries a review date, coverage period and expiry state.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ACE8AE-806A-4E95-B944-DCED7A8F0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14750"/>
            <a:ext cx="4953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9D55"/>
                </a:solidFill>
                <a:latin typeface="Arial"/>
                <a:ea typeface="Arial"/>
                <a:cs typeface="Arial"/>
              </a:defRPr>
            </a:pPr>
            <a:r>
              <a:t>LIMITS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92E2A3-620F-4F8C-8283-854949D2E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52900"/>
            <a:ext cx="4953000" cy="1123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0F0D"/>
                </a:solidFill>
                <a:latin typeface="Arial"/>
                <a:ea typeface="Arial"/>
                <a:cs typeface="Arial"/>
              </a:defRPr>
            </a:pPr>
            <a:r>
              <a:t>Review improves evidence quality; it does not guarantee authenticity or future returns.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02CFBC-9521-4A84-8381-4CE703A73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714750"/>
            <a:ext cx="4953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9D55"/>
                </a:solidFill>
                <a:latin typeface="Arial"/>
                <a:ea typeface="Arial"/>
                <a:cs typeface="Arial"/>
              </a:defRPr>
            </a:pPr>
            <a:r>
              <a:t>CORRECTIONS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4A034E-3AE4-4621-B351-5B2F2930E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52900"/>
            <a:ext cx="4953000" cy="1123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0F0D"/>
                </a:solidFill>
                <a:latin typeface="Arial"/>
                <a:ea typeface="Arial"/>
                <a:cs typeface="Arial"/>
              </a:defRPr>
            </a:pPr>
            <a:r>
              <a:t>Creators consent, refresh and correct. Users can see what changed and when.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42C4A7-ED65-433F-8022-DB8DD5056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495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5C"/>
                </a:solidFill>
                <a:latin typeface="Arial"/>
                <a:ea typeface="Arial"/>
                <a:cs typeface="Arial"/>
              </a:defRPr>
            </a:pPr>
            <a: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25703382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-6">
            <a:extLst xmlns:a="http://schemas.openxmlformats.org/drawingml/2006/main">
              <a:ext uri="{FF2B5EF4-FFF2-40B4-BE49-F238E27FC236}">
                <a16:creationId xmlns:a16="http://schemas.microsoft.com/office/drawing/2014/main" id="{4A73CCC7-D491-4B95-85C2-F4CB58501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10715625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8272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B0F0D"/>
                </a:solidFill>
                <a:latin typeface="Arial"/>
                <a:ea typeface="Arial"/>
                <a:cs typeface="Arial"/>
              </a:defRPr>
            </a:pPr>
            <a:r>
              <a:t>Portfolio Roast earns attention; evidence records earn trust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A8288E-3090-4BC8-96AC-F094FD196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4286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9D55"/>
                </a:solidFill>
                <a:latin typeface="Arial"/>
                <a:ea typeface="Arial"/>
                <a:cs typeface="Arial"/>
              </a:defRPr>
            </a:pPr>
            <a:r>
              <a:t>ACQUISITION WEDGE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552639-5CAF-48F0-BA2B-79A72189F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05000"/>
            <a:ext cx="466725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0F0D"/>
                </a:solidFill>
                <a:latin typeface="Arial"/>
                <a:ea typeface="Arial"/>
                <a:cs typeface="Arial"/>
              </a:defRPr>
            </a:pPr>
            <a:r>
              <a:t>A free, shareable portfolio analysis gives users an immediate reason to enter FVI.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5D219C-112C-49CD-BC05-6A90E9E22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14750"/>
            <a:ext cx="466725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6615C"/>
                </a:solidFill>
                <a:latin typeface="Arial"/>
                <a:ea typeface="Arial"/>
                <a:cs typeface="Arial"/>
              </a:defRPr>
            </a:pPr>
            <a:r>
              <a:t>The handoff is deliberate:
Roast -&gt; inspect evidence -&gt; follow a creator -&gt; return on an alert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0410DA-0944-4F6A-A71B-7C90C6097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381125"/>
            <a:ext cx="5848350" cy="461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0D"/>
          </a:solidFill>
          <a:ln xmlns:a="http://schemas.openxmlformats.org/drawingml/2006/main" w="9525">
            <a:solidFill>
              <a:srgbClr val="0B0F0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FFF056-039C-49F5-811A-385A64F5E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495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5C"/>
                </a:solidFill>
                <a:latin typeface="Arial"/>
                <a:ea typeface="Arial"/>
                <a:cs typeface="Arial"/>
              </a:defRPr>
            </a:pPr>
            <a:r>
              <a:t>06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5784f5ac6d4a55"/>
          <a:stretch xmlns:a="http://schemas.openxmlformats.org/drawingml/2006/main"/>
        </p:blipFill>
        <p:spPr>
          <a:xfrm xmlns:a="http://schemas.openxmlformats.org/drawingml/2006/main">
            <a:off x="5962650" y="2130855"/>
            <a:ext cx="5543550" cy="312016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46809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itle-7">
            <a:extLst xmlns:a="http://schemas.openxmlformats.org/drawingml/2006/main">
              <a:ext uri="{FF2B5EF4-FFF2-40B4-BE49-F238E27FC236}">
                <a16:creationId xmlns:a16="http://schemas.microsoft.com/office/drawing/2014/main" id="{5AF04FFD-FDD3-453B-B854-E45F33D8C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10715625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8273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B0F0D"/>
                </a:solidFill>
                <a:latin typeface="Arial"/>
                <a:ea typeface="Arial"/>
                <a:cs typeface="Arial"/>
              </a:defRPr>
            </a:pPr>
            <a:r>
              <a:t>The product exists; marketplace proof is the next milestone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83C303-DDA9-4ACE-A42F-6C29BFD7B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47800"/>
            <a:ext cx="4953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9D55"/>
                </a:solidFill>
                <a:latin typeface="Arial"/>
                <a:ea typeface="Arial"/>
                <a:cs typeface="Arial"/>
              </a:defRPr>
            </a:pPr>
            <a:r>
              <a:t>WORKING NOW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C636D6-606B-4593-870B-31A76A0D0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52625"/>
            <a:ext cx="4953000" cy="304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0F0D"/>
                </a:solidFill>
                <a:latin typeface="Arial"/>
                <a:ea typeface="Arial"/>
                <a:cs typeface="Arial"/>
              </a:defRPr>
            </a:pPr>
            <a:r>
              <a:t>Creator application and review pipeline
CAS parsing and holdings publication
Read-only follow and alert infrastructure
Portfolio Roast acquisition product
Private, query-backed metrics room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D573B0-7C8E-4AC7-96F5-3BE7B229C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390650"/>
            <a:ext cx="54864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5E8"/>
          </a:solidFill>
          <a:ln xmlns:a="http://schemas.openxmlformats.org/drawingml/2006/main" w="9525">
            <a:solidFill>
              <a:srgbClr val="DDF5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86BFA2-094A-48FE-B3A5-D93870C58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752600"/>
            <a:ext cx="4476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9D55"/>
                </a:solidFill>
                <a:latin typeface="Arial"/>
                <a:ea typeface="Arial"/>
                <a:cs typeface="Arial"/>
              </a:defRPr>
            </a:pPr>
            <a:r>
              <a:t>STAGE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72A9D7-9D99-44A1-A3A0-8E2CC8BC5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190750"/>
            <a:ext cx="447675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391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0B0F0D"/>
                </a:solidFill>
                <a:latin typeface="Arial"/>
                <a:ea typeface="Arial"/>
                <a:cs typeface="Arial"/>
              </a:defRPr>
            </a:pPr>
            <a:r>
              <a:t>FOUNDING
COHORT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8BC7E2-2356-4F34-9290-27BB1E413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867150"/>
            <a:ext cx="4476750" cy="904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6615C"/>
                </a:solidFill>
                <a:latin typeface="Arial"/>
                <a:ea typeface="Arial"/>
                <a:cs typeface="Arial"/>
              </a:defRPr>
            </a:pPr>
            <a:r>
              <a:t>No demo profile, seeded follower or fallback metric is counted as traction.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13D888-A4EF-4358-B0AC-A627D684D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914900"/>
            <a:ext cx="44767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0F0D"/>
                </a:solidFill>
                <a:latin typeface="Arial"/>
                <a:ea typeface="Arial"/>
                <a:cs typeface="Arial"/>
              </a:defRPr>
            </a:pPr>
            <a:r>
              <a:t>The next proof: 10 real creators and a measured follow-to-alert loop.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C2F573-AA08-41AA-9EA6-717BCDED6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495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5C"/>
                </a:solidFill>
                <a:latin typeface="Arial"/>
                <a:ea typeface="Arial"/>
                <a:cs typeface="Arial"/>
              </a:defRPr>
            </a:pPr>
            <a: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75558010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itle-8">
            <a:extLst xmlns:a="http://schemas.openxmlformats.org/drawingml/2006/main">
              <a:ext uri="{FF2B5EF4-FFF2-40B4-BE49-F238E27FC236}">
                <a16:creationId xmlns:a16="http://schemas.microsoft.com/office/drawing/2014/main" id="{2026F9D7-A57E-4FF1-BD77-A90AD4DA0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10715625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8687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B0F0D"/>
                </a:solidFill>
                <a:latin typeface="Arial"/>
                <a:ea typeface="Arial"/>
                <a:cs typeface="Arial"/>
              </a:defRPr>
            </a:pPr>
            <a:r>
              <a:t>Creators are the supply and the first distribution channel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13C429-038D-4876-A7E3-71731CE0C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71650"/>
            <a:ext cx="2857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9D55"/>
                </a:solidFill>
                <a:latin typeface="Arial"/>
                <a:ea typeface="Arial"/>
                <a:cs typeface="Arial"/>
              </a:defRPr>
            </a:pPr>
            <a:r>
              <a:t>WEEKS 1-3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6ACA75-C639-4515-BDB7-025BD0664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09800"/>
            <a:ext cx="31432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0F0D"/>
                </a:solidFill>
                <a:latin typeface="Arial"/>
                <a:ea typeface="Arial"/>
                <a:cs typeface="Arial"/>
              </a:defRPr>
            </a:pPr>
            <a:r>
              <a:t>Recruit 10 creators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C00B49-BC36-46CD-B0F2-17BE3814A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0"/>
            <a:ext cx="314325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6615C"/>
                </a:solidFill>
                <a:latin typeface="Arial"/>
                <a:ea typeface="Arial"/>
                <a:cs typeface="Arial"/>
              </a:defRPr>
            </a:pPr>
            <a:r>
              <a:t>Founder-led outreach to credible finance creators with 5k-100k followers.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7A4B2D-4E36-4E7F-80CD-52AEB1C34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771650"/>
            <a:ext cx="2857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9D55"/>
                </a:solidFill>
                <a:latin typeface="Arial"/>
                <a:ea typeface="Arial"/>
                <a:cs typeface="Arial"/>
              </a:defRPr>
            </a:pPr>
            <a:r>
              <a:t>WEEKS 3-5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59DD57-B6ED-49C0-80A7-6D170B8C1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209800"/>
            <a:ext cx="31432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0F0D"/>
                </a:solidFill>
                <a:latin typeface="Arial"/>
                <a:ea typeface="Arial"/>
                <a:cs typeface="Arial"/>
              </a:defRPr>
            </a:pPr>
            <a:r>
              <a:t>Onboard 500 WAU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5FF859-9662-4456-B40D-772257F96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857500"/>
            <a:ext cx="314325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6615C"/>
                </a:solidFill>
                <a:latin typeface="Arial"/>
                <a:ea typeface="Arial"/>
                <a:cs typeface="Arial"/>
              </a:defRPr>
            </a:pPr>
            <a:r>
              <a:t>Creator shares the reviewed profile; FVI converts inspection into follows.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77ABEC-4670-416B-BB41-7650FCC45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771650"/>
            <a:ext cx="2857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9D55"/>
                </a:solidFill>
                <a:latin typeface="Arial"/>
                <a:ea typeface="Arial"/>
                <a:cs typeface="Arial"/>
              </a:defRPr>
            </a:pPr>
            <a:r>
              <a:t>WEEKS 5-8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CB89B8-648D-416B-A961-126203FB8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09800"/>
            <a:ext cx="31432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0F0D"/>
                </a:solidFill>
                <a:latin typeface="Arial"/>
                <a:ea typeface="Arial"/>
                <a:cs typeface="Arial"/>
              </a:defRPr>
            </a:pPr>
            <a:r>
              <a:t>Prove return behavior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F78ABD-2F63-4771-B4E4-35B1AE1E8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857500"/>
            <a:ext cx="314325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6615C"/>
                </a:solidFill>
                <a:latin typeface="Arial"/>
                <a:ea typeface="Arial"/>
                <a:cs typeface="Arial"/>
              </a:defRPr>
            </a:pPr>
            <a:r>
              <a:t>Allocation alerts create measurable opens, return sessions and retention.</a:t>
            </a:r>
          </a:p>
        </p:txBody>
      </p:sp>
      <p:cxnSp>
        <p:nvCxnSpPr>
          <p:cNvPr id="26" name=""/>
          <p:cNvCxnSpPr/>
          <p:nvPr/>
        </p:nvCxnSpPr>
        <p:spPr>
          <a:xfrm xmlns:a="http://schemas.openxmlformats.org/drawingml/2006/main">
            <a:off x="457200" y="4619625"/>
            <a:ext cx="1097280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B0F0D"/>
            </a:solidFill>
            <a:prstDash val="soli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E82C6E-B410-42F1-945F-9B753DB7C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14900"/>
            <a:ext cx="28575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0F0D"/>
                </a:solidFill>
                <a:latin typeface="Arial"/>
                <a:ea typeface="Arial"/>
                <a:cs typeface="Arial"/>
              </a:defRPr>
            </a:pPr>
            <a:r>
              <a:t>Creator shares reviewed record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174BE1-042A-43C5-AED0-24034A1FE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914900"/>
            <a:ext cx="28575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0F0D"/>
                </a:solidFill>
                <a:latin typeface="Arial"/>
                <a:ea typeface="Arial"/>
                <a:cs typeface="Arial"/>
              </a:defRPr>
            </a:pPr>
            <a:r>
              <a:t>Followers inspect and follow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27D42D-CD7E-4B08-9BD4-28C3C17F4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914900"/>
            <a:ext cx="31432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0F0D"/>
                </a:solidFill>
                <a:latin typeface="Arial"/>
                <a:ea typeface="Arial"/>
                <a:cs typeface="Arial"/>
              </a:defRPr>
            </a:pPr>
            <a:r>
              <a:t>Demand evidence recruits the next creator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F0572D-8A37-4545-8BF4-A8432AF94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495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5C"/>
                </a:solidFill>
                <a:latin typeface="Arial"/>
                <a:ea typeface="Arial"/>
                <a:cs typeface="Arial"/>
              </a:defRPr>
            </a:pPr>
            <a: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38641393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itle-9">
            <a:extLst xmlns:a="http://schemas.openxmlformats.org/drawingml/2006/main">
              <a:ext uri="{FF2B5EF4-FFF2-40B4-BE49-F238E27FC236}">
                <a16:creationId xmlns:a16="http://schemas.microsoft.com/office/drawing/2014/main" id="{52463253-3A59-4924-9CB1-13EF038FA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10715625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8162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B0F0D"/>
                </a:solidFill>
                <a:latin typeface="Arial"/>
                <a:ea typeface="Arial"/>
                <a:cs typeface="Arial"/>
              </a:defRPr>
            </a:pPr>
            <a:r>
              <a:t>Three revenue paths share the same evidence infrastructure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A61EEE-F5CF-4BC1-AE9F-A8217E35D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335280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2"/>
          </a:solidFill>
          <a:ln xmlns:a="http://schemas.openxmlformats.org/drawingml/2006/main" w="9525">
            <a:solidFill>
              <a:srgbClr val="F1F3F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1BDD9B-B0C2-4677-AE3C-8B19BF8F0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619250"/>
            <a:ext cx="335280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2"/>
          </a:solidFill>
          <a:ln xmlns:a="http://schemas.openxmlformats.org/drawingml/2006/main" w="9525">
            <a:solidFill>
              <a:srgbClr val="F1F3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B619C1-8FBE-4432-BBB2-12D541201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619250"/>
            <a:ext cx="335280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2"/>
          </a:solidFill>
          <a:ln xmlns:a="http://schemas.openxmlformats.org/drawingml/2006/main" w="9525">
            <a:solidFill>
              <a:srgbClr val="F1F3F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B4C67C-2FFE-466B-96D3-3DA4A68FB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24050"/>
            <a:ext cx="2781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9D55"/>
                </a:solidFill>
                <a:latin typeface="Arial"/>
                <a:ea typeface="Arial"/>
                <a:cs typeface="Arial"/>
              </a:defRPr>
            </a:pPr>
            <a:r>
              <a:t>RESEARCH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97BF31-7370-47CB-9BEF-3FDF2AEDD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81250"/>
            <a:ext cx="27813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0F0D"/>
                </a:solidFill>
                <a:latin typeface="Arial"/>
                <a:ea typeface="Arial"/>
                <a:cs typeface="Arial"/>
              </a:defRPr>
            </a:pPr>
            <a:r>
              <a:t>Investor subscription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05611F-A498-48EA-9C56-7DBD839EC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14700"/>
            <a:ext cx="27813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6615C"/>
                </a:solidFill>
                <a:latin typeface="Arial"/>
                <a:ea typeface="Arial"/>
                <a:cs typeface="Arial"/>
              </a:defRPr>
            </a:pPr>
            <a:r>
              <a:t>Full histories, comparisons and alert archive.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499774-7E51-49DC-95DB-18165D79F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57750"/>
            <a:ext cx="2781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0F0D"/>
                </a:solidFill>
                <a:latin typeface="Arial"/>
                <a:ea typeface="Arial"/>
                <a:cs typeface="Arial"/>
              </a:defRPr>
            </a:pPr>
            <a:r>
              <a:t>Test: INR 299 / month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534A80-C1D1-4C3D-B468-03FC3244B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924050"/>
            <a:ext cx="2781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9D55"/>
                </a:solidFill>
                <a:latin typeface="Arial"/>
                <a:ea typeface="Arial"/>
                <a:cs typeface="Arial"/>
              </a:defRPr>
            </a:pPr>
            <a:r>
              <a:t>CREATOR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64D63F-52B9-4ED5-9C44-8B2095536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381250"/>
            <a:ext cx="27813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0F0D"/>
                </a:solidFill>
                <a:latin typeface="Arial"/>
                <a:ea typeface="Arial"/>
                <a:cs typeface="Arial"/>
              </a:defRPr>
            </a:pPr>
            <a:r>
              <a:t>Verification operations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EA9AA1-C4D4-4698-9DA6-019C62F1D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314700"/>
            <a:ext cx="27813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6615C"/>
                </a:solidFill>
                <a:latin typeface="Arial"/>
                <a:ea typeface="Arial"/>
                <a:cs typeface="Arial"/>
              </a:defRPr>
            </a:pPr>
            <a:r>
              <a:t>Review workflow, refresh operations and audience analytics.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43CC12-4146-45AA-9AF9-E7C3D1F5F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857750"/>
            <a:ext cx="2781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0F0D"/>
                </a:solidFill>
                <a:latin typeface="Arial"/>
                <a:ea typeface="Arial"/>
                <a:cs typeface="Arial"/>
              </a:defRPr>
            </a:pPr>
            <a:r>
              <a:t>Test: INR 24k / year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1742ED-926F-4E5E-9738-C73E9A11C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924050"/>
            <a:ext cx="2781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9D55"/>
                </a:solidFill>
                <a:latin typeface="Arial"/>
                <a:ea typeface="Arial"/>
                <a:cs typeface="Arial"/>
              </a:defRPr>
            </a:pPr>
            <a:r>
              <a:t>PLATFORM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12A45B-F834-465C-9E43-75285C2F4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381250"/>
            <a:ext cx="27813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0F0D"/>
                </a:solidFill>
                <a:latin typeface="Arial"/>
                <a:ea typeface="Arial"/>
                <a:cs typeface="Arial"/>
              </a:defRPr>
            </a:pPr>
            <a:r>
              <a:t>Evidence API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C93C70-E030-4DE8-BE98-84FC90321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314700"/>
            <a:ext cx="27813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6615C"/>
                </a:solidFill>
                <a:latin typeface="Arial"/>
                <a:ea typeface="Arial"/>
                <a:cs typeface="Arial"/>
              </a:defRPr>
            </a:pPr>
            <a:r>
              <a:t>Reviewed history and badge infrastructure for fintech platforms.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2072DC-A030-4819-9813-805D85FAF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857750"/>
            <a:ext cx="2781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0F0D"/>
                </a:solidFill>
                <a:latin typeface="Arial"/>
                <a:ea typeface="Arial"/>
                <a:cs typeface="Arial"/>
              </a:defRPr>
            </a:pPr>
            <a:r>
              <a:t>Test: enterprise pilots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323104-B659-4687-B2CD-F6AAC548A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10250"/>
            <a:ext cx="6858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6615C"/>
                </a:solidFill>
                <a:latin typeface="Arial"/>
                <a:ea typeface="Arial"/>
                <a:cs typeface="Arial"/>
              </a:defRPr>
            </a:pPr>
            <a:r>
              <a:t>Pricing shown is a research hypothesis, not current revenue.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947C55-ED6F-441C-AEA7-E7BEC145C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495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5C"/>
                </a:solidFill>
                <a:latin typeface="Arial"/>
                <a:ea typeface="Arial"/>
                <a:cs typeface="Arial"/>
              </a:defRPr>
            </a:pPr>
            <a: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5478256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itle-10">
            <a:extLst xmlns:a="http://schemas.openxmlformats.org/drawingml/2006/main">
              <a:ext uri="{FF2B5EF4-FFF2-40B4-BE49-F238E27FC236}">
                <a16:creationId xmlns:a16="http://schemas.microsoft.com/office/drawing/2014/main" id="{E80934E0-B701-46E6-BD41-88AD94CF5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10715625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81447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B0F0D"/>
                </a:solidFill>
                <a:latin typeface="Arial"/>
                <a:ea typeface="Arial"/>
                <a:cs typeface="Arial"/>
              </a:defRPr>
            </a:pPr>
            <a:r>
              <a:t>A focused India wedge can support a venture-scale outcome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5863E8-153E-4F4D-BE5B-D97D13B2D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76350"/>
            <a:ext cx="5334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9D55"/>
                </a:solidFill>
                <a:latin typeface="Arial"/>
                <a:ea typeface="Arial"/>
                <a:cs typeface="Arial"/>
              </a:defRPr>
            </a:pPr>
            <a:r>
              <a:t>ILLUSTRATIVE OPERATING SCENARIO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4019B3-6B6B-48FD-9E24-AC27C0A7C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62150"/>
            <a:ext cx="33528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2"/>
          </a:solidFill>
          <a:ln xmlns:a="http://schemas.openxmlformats.org/drawingml/2006/main" w="9525">
            <a:solidFill>
              <a:srgbClr val="F1F3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17B59B-B34B-478A-828F-A999B8D4D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962150"/>
            <a:ext cx="33528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2"/>
          </a:solidFill>
          <a:ln xmlns:a="http://schemas.openxmlformats.org/drawingml/2006/main" w="9525">
            <a:solidFill>
              <a:srgbClr val="F1F3F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7EB85B-50A9-4530-AC5B-5E47A1692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962150"/>
            <a:ext cx="33528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2"/>
          </a:solidFill>
          <a:ln xmlns:a="http://schemas.openxmlformats.org/drawingml/2006/main" w="9525">
            <a:solidFill>
              <a:srgbClr val="F1F3F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817766-03AC-4607-A6A9-ED1B4C65E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05050"/>
            <a:ext cx="27813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0B0F0D"/>
                </a:solidFill>
                <a:latin typeface="Arial"/>
                <a:ea typeface="Arial"/>
                <a:cs typeface="Arial"/>
              </a:defRPr>
            </a:pPr>
            <a:r>
              <a:t>100k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389545-8A59-403A-912E-F5A064881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05150"/>
            <a:ext cx="27813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0F0D"/>
                </a:solidFill>
                <a:latin typeface="Arial"/>
                <a:ea typeface="Arial"/>
                <a:cs typeface="Arial"/>
              </a:defRPr>
            </a:pPr>
            <a:r>
              <a:t>paid researchers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741A9C-B599-4F54-BA37-57FD6BD97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57600"/>
            <a:ext cx="278130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6615C"/>
                </a:solidFill>
                <a:latin typeface="Arial"/>
                <a:ea typeface="Arial"/>
                <a:cs typeface="Arial"/>
              </a:defRPr>
            </a:pPr>
            <a:r>
              <a:t>x INR 3,588 / year
= INR 35.9 cr ARR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2E3E2D-F00B-4E75-9D31-4811862F0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305050"/>
            <a:ext cx="27813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0B0F0D"/>
                </a:solidFill>
                <a:latin typeface="Arial"/>
                <a:ea typeface="Arial"/>
                <a:cs typeface="Arial"/>
              </a:defRPr>
            </a:pPr>
            <a:r>
              <a:t>2,000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17973D-F1E7-4C16-AD07-E5E18B395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105150"/>
            <a:ext cx="27813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0F0D"/>
                </a:solidFill>
                <a:latin typeface="Arial"/>
                <a:ea typeface="Arial"/>
                <a:cs typeface="Arial"/>
              </a:defRPr>
            </a:pPr>
            <a:r>
              <a:t>creator customers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895BCE-72D9-406E-BA67-91575AA15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657600"/>
            <a:ext cx="278130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6615C"/>
                </a:solidFill>
                <a:latin typeface="Arial"/>
                <a:ea typeface="Arial"/>
                <a:cs typeface="Arial"/>
              </a:defRPr>
            </a:pPr>
            <a:r>
              <a:t>x INR 24k / year
= INR 4.8 cr ARR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4DF3A4-96D3-4F5E-ABE0-930BB44A8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305050"/>
            <a:ext cx="27813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0B0F0D"/>
                </a:solidFill>
                <a:latin typeface="Arial"/>
                <a:ea typeface="Arial"/>
                <a:cs typeface="Arial"/>
              </a:defRPr>
            </a:pPr>
            <a:r>
              <a:t>25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398F4D-01B9-41FA-8FA8-87C3367EC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05150"/>
            <a:ext cx="27813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0F0D"/>
                </a:solidFill>
                <a:latin typeface="Arial"/>
                <a:ea typeface="Arial"/>
                <a:cs typeface="Arial"/>
              </a:defRPr>
            </a:pPr>
            <a:r>
              <a:t>platform customers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C8647E-6395-4F96-8419-B08497B0F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657600"/>
            <a:ext cx="278130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6615C"/>
                </a:solidFill>
                <a:latin typeface="Arial"/>
                <a:ea typeface="Arial"/>
                <a:cs typeface="Arial"/>
              </a:defRPr>
            </a:pPr>
            <a:r>
              <a:t>x INR 20L / year
= INR 5.0 cr ARR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D56DF5-4674-4D17-8AF7-952D77E26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00650"/>
            <a:ext cx="51435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9D55"/>
                </a:solidFill>
                <a:latin typeface="Arial"/>
                <a:ea typeface="Arial"/>
                <a:cs typeface="Arial"/>
              </a:defRPr>
            </a:pPr>
            <a:r>
              <a:t>INR 45.7 cr ARR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BEF1B9-ACC3-4AC4-8135-7A2B07266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334000"/>
            <a:ext cx="59055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6615C"/>
                </a:solidFill>
                <a:latin typeface="Arial"/>
                <a:ea typeface="Arial"/>
                <a:cs typeface="Arial"/>
              </a:defRPr>
            </a:pPr>
            <a:r>
              <a:t>A scenario to validate through pilots, not a market-size claim.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86F085-150B-4970-9EBD-3827B68B2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495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5C"/>
                </a:solidFill>
                <a:latin typeface="Arial"/>
                <a:ea typeface="Arial"/>
                <a:cs typeface="Arial"/>
              </a:defRPr>
            </a:pPr>
            <a: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12396307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itle-11">
            <a:extLst xmlns:a="http://schemas.openxmlformats.org/drawingml/2006/main">
              <a:ext uri="{FF2B5EF4-FFF2-40B4-BE49-F238E27FC236}">
                <a16:creationId xmlns:a16="http://schemas.microsoft.com/office/drawing/2014/main" id="{902615C4-69BB-45E2-B287-025FF4959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10715625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74653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B0F0D"/>
                </a:solidFill>
                <a:latin typeface="Arial"/>
                <a:ea typeface="Arial"/>
                <a:cs typeface="Arial"/>
              </a:defRPr>
            </a:pPr>
            <a:r>
              <a:t>The moat is the history and the operating network, not the interface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098896-A333-4D48-B9AD-31651AF02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38300"/>
            <a:ext cx="666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9D55"/>
                </a:solidFill>
                <a:latin typeface="Arial"/>
                <a:ea typeface="Arial"/>
                <a:cs typeface="Arial"/>
              </a:defRPr>
            </a:pPr>
            <a: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ABD03F-9B9A-49E1-8A02-00F01530A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638300"/>
            <a:ext cx="40957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0F0D"/>
                </a:solidFill>
                <a:latin typeface="Arial"/>
                <a:ea typeface="Arial"/>
                <a:cs typeface="Arial"/>
              </a:defRPr>
            </a:pPr>
            <a:r>
              <a:t>Longitudinal records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5204BC-BD0D-4B89-881F-2A3D70FDB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171700"/>
            <a:ext cx="409575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6615C"/>
                </a:solidFill>
                <a:latin typeface="Arial"/>
                <a:ea typeface="Arial"/>
                <a:cs typeface="Arial"/>
              </a:defRPr>
            </a:pPr>
            <a:r>
              <a:t>Repeated evidence refreshes create a history that cannot be copied overnight.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55EA85-2D11-45E1-ABF9-C27533811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38300"/>
            <a:ext cx="666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9D55"/>
                </a:solidFill>
                <a:latin typeface="Arial"/>
                <a:ea typeface="Arial"/>
                <a:cs typeface="Arial"/>
              </a:defRPr>
            </a:pPr>
            <a: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0CCFBE-BE54-4636-8A4E-126206B07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1638300"/>
            <a:ext cx="40957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0F0D"/>
                </a:solidFill>
                <a:latin typeface="Arial"/>
                <a:ea typeface="Arial"/>
                <a:cs typeface="Arial"/>
              </a:defRPr>
            </a:pPr>
            <a:r>
              <a:t>Creator network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5E51AA-AB6C-4D42-A0FF-2CA3BFF79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171700"/>
            <a:ext cx="409575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6615C"/>
                </a:solidFill>
                <a:latin typeface="Arial"/>
                <a:ea typeface="Arial"/>
                <a:cs typeface="Arial"/>
              </a:defRPr>
            </a:pPr>
            <a:r>
              <a:t>Trust and distribution compound as credible creators bring their audiences.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7DBAD6-725E-4ADF-B9E7-59F349B08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90950"/>
            <a:ext cx="666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9D55"/>
                </a:solidFill>
                <a:latin typeface="Arial"/>
                <a:ea typeface="Arial"/>
                <a:cs typeface="Arial"/>
              </a:defRPr>
            </a:pPr>
            <a: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F46833-8927-48BC-944D-C6A23F133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790950"/>
            <a:ext cx="40957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0F0D"/>
                </a:solidFill>
                <a:latin typeface="Arial"/>
                <a:ea typeface="Arial"/>
                <a:cs typeface="Arial"/>
              </a:defRPr>
            </a:pPr>
            <a:r>
              <a:t>Verification operations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46EFCD-EB90-412B-81C2-26E6E0E03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324350"/>
            <a:ext cx="409575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6615C"/>
                </a:solidFill>
                <a:latin typeface="Arial"/>
                <a:ea typeface="Arial"/>
                <a:cs typeface="Arial"/>
              </a:defRPr>
            </a:pPr>
            <a:r>
              <a:t>Consent, corrections, freshness and audit controls become institutional know-how.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714654-4A48-45FA-86EC-58FC0E342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90950"/>
            <a:ext cx="666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9D55"/>
                </a:solidFill>
                <a:latin typeface="Arial"/>
                <a:ea typeface="Arial"/>
                <a:cs typeface="Arial"/>
              </a:defRPr>
            </a:pPr>
            <a:r>
              <a:t>04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5C568B-51E1-4A98-B84A-AFE62957E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790950"/>
            <a:ext cx="40957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0F0D"/>
                </a:solidFill>
                <a:latin typeface="Arial"/>
                <a:ea typeface="Arial"/>
                <a:cs typeface="Arial"/>
              </a:defRPr>
            </a:pPr>
            <a:r>
              <a:t>Behavioral distribution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2FCCE8-7B7C-45C0-A106-06C6CB8EF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324350"/>
            <a:ext cx="409575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6615C"/>
                </a:solidFill>
                <a:latin typeface="Arial"/>
                <a:ea typeface="Arial"/>
                <a:cs typeface="Arial"/>
              </a:defRPr>
            </a:pPr>
            <a:r>
              <a:t>Roast sharing, profile inspection and alerts form a measurable acquisition loop.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494065-09B5-47E6-A2BA-926BB14FD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495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5C"/>
                </a:solidFill>
                <a:latin typeface="Arial"/>
                <a:ea typeface="Arial"/>
                <a:cs typeface="Arial"/>
              </a:defRPr>
            </a:pPr>
            <a: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08029467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-12">
            <a:extLst xmlns:a="http://schemas.openxmlformats.org/drawingml/2006/main">
              <a:ext uri="{FF2B5EF4-FFF2-40B4-BE49-F238E27FC236}">
                <a16:creationId xmlns:a16="http://schemas.microsoft.com/office/drawing/2014/main" id="{6011AA72-5911-4CFE-BC69-45E085B19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10715625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74653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B0F0D"/>
                </a:solidFill>
                <a:latin typeface="Arial"/>
                <a:ea typeface="Arial"/>
                <a:cs typeface="Arial"/>
              </a:defRPr>
            </a:pPr>
            <a:r>
              <a:t>A product-first founder has built the system; the raise builds the network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C0AF1F-B90E-40A3-9BB2-85A79D3B6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24000"/>
            <a:ext cx="485775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0D"/>
          </a:solidFill>
          <a:ln xmlns:a="http://schemas.openxmlformats.org/drawingml/2006/main" w="9525">
            <a:solidFill>
              <a:srgbClr val="0B0F0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899D4C-8013-4153-8216-BAD5DFD77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24050"/>
            <a:ext cx="409575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GAURAV
BIHANI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1709E0-3D8C-4402-8D87-7A7DFBB27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43300"/>
            <a:ext cx="4095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Founder / product and engineering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B52170-0DE7-4B8C-AAD3-576AFDC01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91000"/>
            <a:ext cx="409575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C8D0CC"/>
                </a:solidFill>
                <a:latin typeface="Arial"/>
                <a:ea typeface="Arial"/>
                <a:cs typeface="Arial"/>
              </a:defRPr>
            </a:pPr>
            <a:r>
              <a:t>Built the working FVI prototype across verification, marketplace, alerts and portfolio analysis.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2EA039-8160-4034-9EA7-75B48CAE5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38300"/>
            <a:ext cx="4762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9D55"/>
                </a:solidFill>
                <a:latin typeface="Arial"/>
                <a:ea typeface="Arial"/>
                <a:cs typeface="Arial"/>
              </a:defRPr>
            </a:pPr>
            <a:r>
              <a:t>THE FIRST HIRES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6C0B61-7523-4CB3-8C8F-C536D5FEF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09800"/>
            <a:ext cx="49530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0F0D"/>
                </a:solidFill>
                <a:latin typeface="Arial"/>
                <a:ea typeface="Arial"/>
                <a:cs typeface="Arial"/>
              </a:defRPr>
            </a:pPr>
            <a:r>
              <a:t>Senior full-stack / data reliability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1763E6-1985-4901-84B8-5D88F4074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67050"/>
            <a:ext cx="49530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0F0D"/>
                </a:solidFill>
                <a:latin typeface="Arial"/>
                <a:ea typeface="Arial"/>
                <a:cs typeface="Arial"/>
              </a:defRPr>
            </a:pPr>
            <a:r>
              <a:t>Creator operations and verification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1F800B-8FE3-4E2A-9910-FEFB33932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24300"/>
            <a:ext cx="49530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8483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0F0D"/>
                </a:solidFill>
                <a:latin typeface="Arial"/>
                <a:ea typeface="Arial"/>
                <a:cs typeface="Arial"/>
              </a:defRPr>
            </a:pPr>
            <a:r>
              <a:t>Compliance counsel and privacy support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C30612-6FB6-4440-984D-5AA75E4C0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857750"/>
            <a:ext cx="4953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6615C"/>
                </a:solidFill>
                <a:latin typeface="Arial"/>
                <a:ea typeface="Arial"/>
                <a:cs typeface="Arial"/>
              </a:defRPr>
            </a:pPr>
            <a:r>
              <a:t>Distribution experiments stay founder-led until one loop is repeatable.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EE9FD5-FD69-4BA8-8291-9E01D7227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495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5C"/>
                </a:solidFill>
                <a:latin typeface="Arial"/>
                <a:ea typeface="Arial"/>
                <a:cs typeface="Arial"/>
              </a:defRPr>
            </a:pPr>
            <a: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5457358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5BAD45-A4B5-4099-9691-B2BC81908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"/>
            <a:ext cx="2286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9D55"/>
                </a:solidFill>
                <a:latin typeface="Arial"/>
                <a:ea typeface="Arial"/>
                <a:cs typeface="Arial"/>
              </a:defRPr>
            </a:pPr>
            <a:r>
              <a:t>THE ASK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54EC48-215A-451A-9CF8-9B6B6BC24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0150"/>
            <a:ext cx="76200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0B0F0D"/>
                </a:solidFill>
                <a:latin typeface="Arial"/>
                <a:ea typeface="Arial"/>
                <a:cs typeface="Arial"/>
              </a:defRPr>
            </a:pPr>
            <a:r>
              <a:t>Raising INR 3 crore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C2416E-F7B9-46CE-8753-3B97E938C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33600"/>
            <a:ext cx="87630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56615C"/>
                </a:solidFill>
                <a:latin typeface="Arial"/>
                <a:ea typeface="Arial"/>
                <a:cs typeface="Arial"/>
              </a:defRPr>
            </a:pPr>
            <a:r>
              <a:t>18 months to prove a retained evidence network</a:t>
            </a:r>
          </a:p>
        </p:txBody>
      </p:sp>
      <p:cxnSp>
        <p:nvCxnSpPr>
          <p:cNvPr id="18" name=""/>
          <p:cNvCxnSpPr/>
          <p:nvPr/>
        </p:nvCxnSpPr>
        <p:spPr>
          <a:xfrm xmlns:a="http://schemas.openxmlformats.org/drawingml/2006/main">
            <a:off x="457200" y="3028950"/>
            <a:ext cx="1078230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B0F0D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AAFDB3-799A-4626-BD73-F053203FF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05200"/>
            <a:ext cx="24765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9D55"/>
                </a:solidFill>
                <a:latin typeface="Arial"/>
                <a:ea typeface="Arial"/>
                <a:cs typeface="Arial"/>
              </a:defRPr>
            </a:pPr>
            <a:r>
              <a:t>10 -&gt; 50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2AD09F-0498-4FA7-A13F-12B559BCE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71950"/>
            <a:ext cx="2476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0F0D"/>
                </a:solidFill>
                <a:latin typeface="Arial"/>
                <a:ea typeface="Arial"/>
                <a:cs typeface="Arial"/>
              </a:defRPr>
            </a:pPr>
            <a:r>
              <a:t>live reviewed creators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8A3CB1-DA84-4D58-8C0F-167AF41D8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505200"/>
            <a:ext cx="28575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9D55"/>
                </a:solidFill>
                <a:latin typeface="Arial"/>
                <a:ea typeface="Arial"/>
                <a:cs typeface="Arial"/>
              </a:defRPr>
            </a:pPr>
            <a:r>
              <a:t>500 -&gt; 5,000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56B04C-E109-4488-8404-384FFA403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171950"/>
            <a:ext cx="2857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0F0D"/>
                </a:solidFill>
                <a:latin typeface="Arial"/>
                <a:ea typeface="Arial"/>
                <a:cs typeface="Arial"/>
              </a:defRPr>
            </a:pPr>
            <a:r>
              <a:t>weekly active users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2E8AF2-478C-4CF7-9C68-5B59B4D1A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505200"/>
            <a:ext cx="20955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9D55"/>
                </a:solidFill>
                <a:latin typeface="Arial"/>
                <a:ea typeface="Arial"/>
                <a:cs typeface="Arial"/>
              </a:defRPr>
            </a:pPr>
            <a:r>
              <a:t>&gt;30%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F8E879-ED51-4542-80A6-DA9ED5C07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171950"/>
            <a:ext cx="23812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0F0D"/>
                </a:solidFill>
                <a:latin typeface="Arial"/>
                <a:ea typeface="Arial"/>
                <a:cs typeface="Arial"/>
              </a:defRPr>
            </a:pPr>
            <a:r>
              <a:t>four-week retention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0C17F9-1816-4545-A03C-1B1B862A2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505200"/>
            <a:ext cx="10477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9D55"/>
                </a:solidFill>
                <a:latin typeface="Arial"/>
                <a:ea typeface="Arial"/>
                <a:cs typeface="Arial"/>
              </a:defRPr>
            </a:pPr>
            <a: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5ADCBF-26CF-4ED6-86E9-9A759DC8F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171950"/>
            <a:ext cx="16192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0B0F0D"/>
                </a:solidFill>
                <a:latin typeface="Arial"/>
                <a:ea typeface="Arial"/>
                <a:cs typeface="Arial"/>
              </a:defRPr>
            </a:pPr>
            <a:r>
              <a:t>compliant paid pilot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2159E8-09FC-4B1E-A672-6E2FDF20A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81650"/>
            <a:ext cx="97155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5755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0F0D"/>
                </a:solidFill>
                <a:latin typeface="Arial"/>
                <a:ea typeface="Arial"/>
                <a:cs typeface="Arial"/>
              </a:defRPr>
            </a:pPr>
            <a:r>
              <a:t>Build the evidence layer before the next screenshot becomes the market's truth.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31B586-6E82-4BC4-9E3F-F6059D78D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0"/>
            <a:ext cx="3810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6615C"/>
                </a:solidFill>
                <a:latin typeface="Arial"/>
                <a:ea typeface="Arial"/>
                <a:cs typeface="Arial"/>
              </a:defRPr>
            </a:pPr>
            <a:r>
              <a:t>gauravbihanigb@gmail.com</a:t>
            </a:r>
          </a:p>
        </p:txBody>
      </p:sp>
    </p:spTree>
    <p:extLst>
      <p:ext uri="{BB962C8B-B14F-4D97-AF65-F5344CB8AC3E}">
        <p14:creationId xmlns:p14="http://schemas.microsoft.com/office/powerpoint/2010/main" val="152354645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2026-07-17T07:49:42.9820000Z</dcterms:created>
  <dcterms:modified xsi:type="dcterms:W3CDTF">2026-07-17T07:49:42.9820000Z</dcterms:modified>
</coreProperties>
</file>